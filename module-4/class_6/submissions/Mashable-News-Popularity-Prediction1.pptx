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 Medium" panose="020B0604020202020204" charset="-78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Manrope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1177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38573"/>
            <a:ext cx="2144390" cy="266402"/>
          </a:xfrm>
          <a:prstGeom prst="roundRect">
            <a:avLst>
              <a:gd name="adj" fmla="val 63859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481063"/>
            <a:ext cx="24314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SCENARIO 09 · MODULE 3 + MODULE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761679"/>
            <a:ext cx="4722763" cy="890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📰</a:t>
            </a: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BBC News Popularity Prediction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65016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Cleaning → Preprocessing → Training — a full ML pipeline from raw CSV to trained classifiers.</a:t>
            </a:r>
            <a:endParaRPr lang="en-US" sz="1100" dirty="0"/>
          </a:p>
          <a:p>
            <a:pPr>
              <a:lnSpc>
                <a:spcPct val="133000"/>
              </a:lnSpc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Coder: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Aliqulov Davron  | 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Lead: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Ilyos </a:t>
            </a:r>
            <a:r>
              <a:rPr lang="en-US" sz="1100" dirty="0" err="1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O'ralov</a:t>
            </a:r>
            <a:b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US" sz="12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</a:t>
            </a:r>
            <a:r>
              <a:rPr lang="en-US" sz="1200" b="1" dirty="0" err="1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analist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Ibrohim Tursunov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8321"/>
            <a:ext cx="4160416" cy="364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🎯</a:t>
            </a:r>
            <a:r>
              <a:rPr 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Why Does This Matter?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70781" y="1035397"/>
            <a:ext cx="82322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"Every article costs money to write. Before we publish, I want to know one thing — will this article be popular?" — Daniel, Head of Content Strategy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15094" y="1412825"/>
            <a:ext cx="3999309" cy="966192"/>
          </a:xfrm>
          <a:prstGeom prst="roundRect">
            <a:avLst>
              <a:gd name="adj" fmla="val 28612"/>
            </a:avLst>
          </a:prstGeom>
          <a:solidFill>
            <a:srgbClr val="AAE4FE"/>
          </a:solidFill>
          <a:ln/>
        </p:spPr>
      </p:sp>
      <p:sp>
        <p:nvSpPr>
          <p:cNvPr id="5" name="Text 3"/>
          <p:cNvSpPr/>
          <p:nvPr/>
        </p:nvSpPr>
        <p:spPr>
          <a:xfrm>
            <a:off x="630213" y="1506364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❌ Without 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213" y="1779836"/>
            <a:ext cx="3769072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Guessing based on intuition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Wasted editorial budget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Missed viral opportunities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7182" y="1506364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✅</a:t>
            </a: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With 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17182" y="1779836"/>
            <a:ext cx="3833366" cy="56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Data-driven publishing decisions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Smarter content allocation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Measurable ROI improvement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8066" y="2541761"/>
            <a:ext cx="3915370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39,644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1835869" y="304956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Articles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30415" y="2541761"/>
            <a:ext cx="3915445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61</a:t>
            </a:r>
            <a:endParaRPr lang="en-US" sz="2950" dirty="0"/>
          </a:p>
        </p:txBody>
      </p:sp>
      <p:sp>
        <p:nvSpPr>
          <p:cNvPr id="12" name="Text 10"/>
          <p:cNvSpPr/>
          <p:nvPr/>
        </p:nvSpPr>
        <p:spPr>
          <a:xfrm>
            <a:off x="5868219" y="304956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Columns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066" y="3474169"/>
            <a:ext cx="3915370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2013–15</a:t>
            </a:r>
            <a:endParaRPr lang="en-US" sz="2950" dirty="0"/>
          </a:p>
        </p:txBody>
      </p:sp>
      <p:sp>
        <p:nvSpPr>
          <p:cNvPr id="14" name="Text 12"/>
          <p:cNvSpPr/>
          <p:nvPr/>
        </p:nvSpPr>
        <p:spPr>
          <a:xfrm>
            <a:off x="1835869" y="39819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0415" y="3474169"/>
            <a:ext cx="3915445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100%</a:t>
            </a:r>
            <a:endParaRPr lang="en-US" sz="2950" dirty="0"/>
          </a:p>
        </p:txBody>
      </p:sp>
      <p:sp>
        <p:nvSpPr>
          <p:cNvPr id="16" name="Text 14"/>
          <p:cNvSpPr/>
          <p:nvPr/>
        </p:nvSpPr>
        <p:spPr>
          <a:xfrm>
            <a:off x="5868219" y="3981971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Numeric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66" y="4267126"/>
            <a:ext cx="7947794" cy="392757"/>
          </a:xfrm>
          <a:prstGeom prst="roundRect">
            <a:avLst>
              <a:gd name="adj" fmla="val 43991"/>
            </a:avLst>
          </a:prstGeom>
          <a:solidFill>
            <a:srgbClr val="B6D6FC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84" y="4424511"/>
            <a:ext cx="143917" cy="11511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2220" y="4380012"/>
            <a:ext cx="791572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text cleaning required — all features are already numerical.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8987"/>
            <a:ext cx="4071417" cy="4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🗺️</a:t>
            </a: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Project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2025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modules, one end-to-end ML pipeline — from raw data to evaluated models.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6538"/>
            <a:ext cx="8151763" cy="22348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78791" y="251411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Raw CSV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478791" y="2797417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39,644 rows · 61 columns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141353" y="2575873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Module 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41353" y="2859175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Clean, fix columns, remove bad rows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35284" y="2514115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Module 4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35284" y="2797417"/>
            <a:ext cx="1231850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 features, train models, eval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13530" y="2575873"/>
            <a:ext cx="1231849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Model-Ready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13530" y="2859175"/>
            <a:ext cx="1231849" cy="35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BBC _clean.parquet · F1 scores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6119" y="410088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stage produces a clean, validated deliverable that feeds directly into the next — ensuring reproducibility and honest evaluation at every step.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7081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1031" y="194890"/>
            <a:ext cx="43621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🧹</a:t>
            </a: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Module 3: Data Cleaning &amp; Preprocessing</a:t>
            </a:r>
            <a:endParaRPr lang="en-US" sz="1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031" y="469478"/>
            <a:ext cx="4890939" cy="4252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36802" y="615628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169494" y="54984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Fix Column Names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4169494" y="681782"/>
            <a:ext cx="448210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Strip leading spaces. Shape: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39,644 × 61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031" y="930176"/>
            <a:ext cx="4890939" cy="4252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36802" y="1076325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169494" y="101054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Remove Bad Rows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169494" y="1142479"/>
            <a:ext cx="448210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1,181 empty articles + 1 corrupt outlier.</a:t>
            </a:r>
            <a:endParaRPr lang="en-US" sz="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031" y="1390873"/>
            <a:ext cx="4890939" cy="4252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936802" y="1537022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4169494" y="147124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Drop Non-Features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4169494" y="1603177"/>
            <a:ext cx="448210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 </a:t>
            </a:r>
            <a:r>
              <a:rPr lang="en-US" sz="5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r>
              <a:rPr lang="en-US" sz="5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timedelta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not predictive.</a:t>
            </a:r>
            <a:endParaRPr lang="en-US" sz="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031" y="1851571"/>
            <a:ext cx="4890939" cy="4252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36802" y="1997720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4169494" y="193193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Result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4169494" y="2063874"/>
            <a:ext cx="4482108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5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38,462 rows</a:t>
            </a: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remaining, clean and ready.</a:t>
            </a:r>
            <a:endParaRPr lang="en-US" sz="550" dirty="0"/>
          </a:p>
        </p:txBody>
      </p:sp>
      <p:sp>
        <p:nvSpPr>
          <p:cNvPr id="20" name="Text 13"/>
          <p:cNvSpPr/>
          <p:nvPr/>
        </p:nvSpPr>
        <p:spPr>
          <a:xfrm>
            <a:off x="3841031" y="2329979"/>
            <a:ext cx="179062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📂</a:t>
            </a: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News Sections Distribution</a:t>
            </a:r>
            <a:endParaRPr lang="en-US" sz="6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031" y="2498601"/>
            <a:ext cx="4890939" cy="273888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841031" y="5277296"/>
            <a:ext cx="4890939" cy="196155"/>
          </a:xfrm>
          <a:prstGeom prst="roundRect">
            <a:avLst>
              <a:gd name="adj" fmla="val 54205"/>
            </a:avLst>
          </a:prstGeom>
          <a:solidFill>
            <a:srgbClr val="B3E7FE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873" y="5365849"/>
            <a:ext cx="88553" cy="7084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071268" y="5326856"/>
            <a:ext cx="504705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Golden Rule:</a:t>
            </a: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Always inspect data before cleaning.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9134"/>
            <a:ext cx="4001319" cy="4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🎯</a:t>
            </a: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Build </a:t>
            </a:r>
            <a:r>
              <a:rPr lang="en-US" sz="2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is_popular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59818"/>
            <a:ext cx="26078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Median, Not Mean?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2303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Shares are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highly skewed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viral articles create extreme outliers that inflate the mean. The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 = 1,400 shares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a robust, realistic threshold.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5981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Final Dataset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23033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features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selected from 61 columns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dropped to prevent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leakage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Deliverable: </a:t>
            </a:r>
            <a:r>
              <a:rPr 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BBC _clean.parquet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Shape: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38,462 rows × 20 columns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387998"/>
            <a:ext cx="8151763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3392760"/>
            <a:ext cx="4071119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Text 7"/>
          <p:cNvSpPr/>
          <p:nvPr/>
        </p:nvSpPr>
        <p:spPr>
          <a:xfrm>
            <a:off x="642640" y="35345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🟢 Popular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2640" y="3841031"/>
            <a:ext cx="37876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20,463 articles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392760"/>
            <a:ext cx="4071119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3392760"/>
            <a:ext cx="19050" cy="816843"/>
          </a:xfrm>
          <a:prstGeom prst="roundRect">
            <a:avLst>
              <a:gd name="adj" fmla="val 1116279"/>
            </a:avLst>
          </a:prstGeom>
          <a:solidFill>
            <a:srgbClr val="B3D5E4"/>
          </a:solidFill>
          <a:ln/>
        </p:spPr>
      </p:sp>
      <p:sp>
        <p:nvSpPr>
          <p:cNvPr id="13" name="Text 11"/>
          <p:cNvSpPr/>
          <p:nvPr/>
        </p:nvSpPr>
        <p:spPr>
          <a:xfrm>
            <a:off x="4713759" y="353451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🔵 Not Popular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13759" y="3841031"/>
            <a:ext cx="37876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17,999 articles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3725"/>
            <a:ext cx="6437858" cy="4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🤖</a:t>
            </a: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Module 4: Model Development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958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5905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Training ·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20%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Testing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= 42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reproducibility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 = 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preserves class balance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8037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Scaling Rule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4358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Fit scaler on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 data only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never on the full dataset. This prevents information leakage into the test set.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7958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Models Trained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49701" y="2176760"/>
            <a:ext cx="1880592" cy="1813545"/>
          </a:xfrm>
          <a:prstGeom prst="roundRect">
            <a:avLst>
              <a:gd name="adj" fmla="val 11726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510" y="2337569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📈</a:t>
            </a: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Logistic Regression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10510" y="2922240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Linear classifier — fast, interpretable, strong baseline.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72052" y="2176760"/>
            <a:ext cx="1880592" cy="1813545"/>
          </a:xfrm>
          <a:prstGeom prst="roundRect">
            <a:avLst>
              <a:gd name="adj" fmla="val 11726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2861" y="2337569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🌳</a:t>
            </a: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Random Forest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32861" y="2922240"/>
            <a:ext cx="155897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 decision trees with majority voting — captures non-linear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62905"/>
            <a:ext cx="3049191" cy="288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📊</a:t>
            </a: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Model Performance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667717"/>
            <a:ext cx="6266557" cy="3509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8721" y="4242346"/>
            <a:ext cx="626655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Both models perform comparably. Random Forest edges out Logistic Regression slightly on accuracy and precision, while Logistic Regression achieves higher recall.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1438721" y="4546029"/>
            <a:ext cx="6266557" cy="269156"/>
          </a:xfrm>
          <a:prstGeom prst="roundRect">
            <a:avLst>
              <a:gd name="adj" fmla="val 50614"/>
            </a:avLst>
          </a:prstGeom>
          <a:solidFill>
            <a:srgbClr val="B3E7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507" y="4660999"/>
            <a:ext cx="113481" cy="90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3773" y="4621039"/>
            <a:ext cx="633792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Message: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Predicting virality is inherently difficult. Achieving </a:t>
            </a:r>
            <a:r>
              <a:rPr lang="en-US" sz="7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~65% accuracy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 human behavior is a meaningful and honest result.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1649"/>
            <a:ext cx="5242247" cy="4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🔍</a:t>
            </a: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What Drives Popularity?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1469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37375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36973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 quality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(subjectivity, token count) dominates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 polarity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both global and title-level — matters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 density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(num_href, num_self_href) signals shareability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Article category and publication day rank </a:t>
            </a:r>
            <a:r>
              <a:rPr lang="en-US" sz="110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lower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than expected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632820"/>
            <a:ext cx="3902943" cy="779562"/>
          </a:xfrm>
          <a:prstGeom prst="roundRect">
            <a:avLst>
              <a:gd name="adj" fmla="val 2727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8526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795787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"Content quality and sentiment matter more than article category or publication day."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1114" y="321394"/>
            <a:ext cx="2893814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📚</a:t>
            </a:r>
            <a:r>
              <a:rPr lang="en-US" sz="1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Lessons Learned</a:t>
            </a:r>
            <a:endParaRPr lang="en-US" sz="1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114" y="731118"/>
            <a:ext cx="194890" cy="1948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41114" y="1009724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341114" y="1202159"/>
            <a:ext cx="50327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Inspect before transforming. Broken rows and malformed columns silently corrupt results.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114" y="1467669"/>
            <a:ext cx="194890" cy="1948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1114" y="174627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Target Engineering</a:t>
            </a:r>
            <a:endParaRPr lang="en-US" sz="950" dirty="0"/>
          </a:p>
        </p:txBody>
      </p:sp>
      <p:sp>
        <p:nvSpPr>
          <p:cNvPr id="9" name="Text 4"/>
          <p:cNvSpPr/>
          <p:nvPr/>
        </p:nvSpPr>
        <p:spPr>
          <a:xfrm>
            <a:off x="341114" y="1938710"/>
            <a:ext cx="50327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Median-based thresholds handle skewed distributions better than arbitrary cutoffs.</a:t>
            </a:r>
            <a:endParaRPr lang="en-US" sz="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1114" y="2204219"/>
            <a:ext cx="194890" cy="1948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1114" y="248282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Leakage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341114" y="2675260"/>
            <a:ext cx="50327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Dropping </a:t>
            </a:r>
            <a:r>
              <a:rPr lang="en-US" sz="7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before training is critical — leakage creates false confidence.</a:t>
            </a:r>
            <a:endParaRPr lang="en-US" sz="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1114" y="2940769"/>
            <a:ext cx="194890" cy="19489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41114" y="321937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Honest Evaluation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341114" y="3411810"/>
            <a:ext cx="503277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Stratified splits and train-only scaling ensure metrics reflect real-world performance.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341114" y="3643833"/>
            <a:ext cx="175007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Discussion Questions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341114" y="3896544"/>
            <a:ext cx="219224" cy="219224"/>
          </a:xfrm>
          <a:prstGeom prst="roundRect">
            <a:avLst>
              <a:gd name="adj" fmla="val 6668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77651" y="3914812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627311" y="3930030"/>
            <a:ext cx="348689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is popularity prediction harder than many ML tasks?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341114" y="4249713"/>
            <a:ext cx="219224" cy="219224"/>
          </a:xfrm>
          <a:prstGeom prst="roundRect">
            <a:avLst>
              <a:gd name="adj" fmla="val 6668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77651" y="426798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27311" y="4283199"/>
            <a:ext cx="33442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Which matters more: Section or Weekend publication?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341114" y="4602882"/>
            <a:ext cx="219224" cy="219224"/>
          </a:xfrm>
          <a:prstGeom prst="roundRect">
            <a:avLst>
              <a:gd name="adj" fmla="val 66689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77651" y="4621150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27311" y="4636368"/>
            <a:ext cx="304874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Should BBC  optimize for Precision or Recall?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92757"/>
            <a:ext cx="3927500" cy="42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🏁</a:t>
            </a:r>
            <a:r>
              <a:rPr lang="en-US" sz="2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Project Complete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375568" y="1012999"/>
            <a:ext cx="4128939" cy="2149971"/>
          </a:xfrm>
          <a:prstGeom prst="roundRect">
            <a:avLst>
              <a:gd name="adj" fmla="val 15084"/>
            </a:avLst>
          </a:prstGeom>
          <a:solidFill>
            <a:srgbClr val="AAE4FE"/>
          </a:solidFill>
          <a:ln/>
        </p:spPr>
      </p:sp>
      <p:sp>
        <p:nvSpPr>
          <p:cNvPr id="4" name="Text 2"/>
          <p:cNvSpPr/>
          <p:nvPr/>
        </p:nvSpPr>
        <p:spPr>
          <a:xfrm>
            <a:off x="510629" y="1141735"/>
            <a:ext cx="249383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Module 3 Achievements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0629" y="1481584"/>
            <a:ext cx="3858816" cy="1008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Cleaned dataset (38,462 rows)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Removed bad rows and outliers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Built </a:t>
            </a:r>
            <a:r>
              <a:rPr lang="en-US" sz="1050" dirty="0">
                <a:solidFill>
                  <a:srgbClr val="000000"/>
                </a:solidFill>
                <a:highlight>
                  <a:srgbClr val="9DD7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is_popular</a:t>
            </a: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target label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 Saved </a:t>
            </a:r>
            <a:r>
              <a:rPr lang="en-US" sz="1050" dirty="0">
                <a:solidFill>
                  <a:srgbClr val="000000"/>
                </a:solidFill>
                <a:highlight>
                  <a:srgbClr val="9DD7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BBC _clean.parquet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590" y="1141735"/>
            <a:ext cx="24950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Module 4 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41590" y="1481584"/>
            <a:ext cx="3934271" cy="7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Trained Logistic Regression &amp; Random Forest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Evaluated fairly with stratified split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Best F1 Score: </a:t>
            </a:r>
            <a:r>
              <a:rPr lang="en-US" sz="10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0.671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44219" y="2479997"/>
            <a:ext cx="373164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"Clean data first, then model. Honest results are more valuable than artificially high accuracy."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901" y="335614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Credits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2901" y="3760440"/>
            <a:ext cx="1952997" cy="990228"/>
          </a:xfrm>
          <a:prstGeom prst="roundRect">
            <a:avLst>
              <a:gd name="adj" fmla="val 204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725" y="3900264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725" y="4188619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Aliqulov Davron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54635" y="3760440"/>
            <a:ext cx="1952997" cy="990228"/>
          </a:xfrm>
          <a:prstGeom prst="roundRect">
            <a:avLst>
              <a:gd name="adj" fmla="val 204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4459" y="3900264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Team Lead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4459" y="4188619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Ilyos O'ralov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6368" y="3760440"/>
            <a:ext cx="1952997" cy="990228"/>
          </a:xfrm>
          <a:prstGeom prst="roundRect">
            <a:avLst>
              <a:gd name="adj" fmla="val 204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6192" y="3900264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6192" y="4188619"/>
            <a:ext cx="16733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UCI Online News Popularity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18102" y="3760440"/>
            <a:ext cx="1952997" cy="990228"/>
          </a:xfrm>
          <a:prstGeom prst="roundRect">
            <a:avLst>
              <a:gd name="adj" fmla="val 204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7926" y="3900264"/>
            <a:ext cx="167334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7926" y="4188619"/>
            <a:ext cx="167334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Google Colab · pandas · scikit-learn · matplotlib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741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Arial</vt:lpstr>
      <vt:lpstr>Alexandria Medium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Davron</dc:creator>
  <cp:lastModifiedBy>Davron Aliqulov</cp:lastModifiedBy>
  <cp:revision>3</cp:revision>
  <dcterms:created xsi:type="dcterms:W3CDTF">2026-06-10T07:40:49Z</dcterms:created>
  <dcterms:modified xsi:type="dcterms:W3CDTF">2026-06-19T06:29:08Z</dcterms:modified>
</cp:coreProperties>
</file>